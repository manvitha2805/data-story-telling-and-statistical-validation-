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32" d="100"/>
          <a:sy n="32" d="100"/>
        </p:scale>
        <p:origin x="-80" y="-11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-2-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2-5.svg"/><Relationship Id="rId5" Type="http://schemas.openxmlformats.org/officeDocument/2006/relationships/image" Target="../media/image-2-3.svg"/><Relationship Id="rId4" Type="http://schemas.openxmlformats.org/officeDocument/2006/relationships/image" Target="../media/image4.png"/><Relationship Id="rId9" Type="http://schemas.openxmlformats.org/officeDocument/2006/relationships/image" Target="../media/image-2-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8.svg"/><Relationship Id="rId3" Type="http://schemas.openxmlformats.org/officeDocument/2006/relationships/image" Target="../media/image4.png"/><Relationship Id="rId12" Type="http://schemas.openxmlformats.org/officeDocument/2006/relationships/image" Target="../media/image-3-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10" Type="http://schemas.openxmlformats.org/officeDocument/2006/relationships/image" Target="../media/image-3-10.svg"/><Relationship Id="rId4" Type="http://schemas.openxmlformats.org/officeDocument/2006/relationships/image" Target="../media/image-3-2.svg"/><Relationship Id="rId14" Type="http://schemas.openxmlformats.org/officeDocument/2006/relationships/image" Target="../media/image-3-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8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-10-6.svg"/><Relationship Id="rId5" Type="http://schemas.openxmlformats.org/officeDocument/2006/relationships/image" Target="../media/image-10-4.svg"/><Relationship Id="rId4" Type="http://schemas.openxmlformats.org/officeDocument/2006/relationships/image" Target="../media/image-10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48114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E-Commerce Sales Analysis &amp; Business Insights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24815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data-driven exploration of revenue, orders, customer behavior, and performance trends to support smarter business decisions.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283398"/>
            <a:ext cx="2469713" cy="465058"/>
          </a:xfrm>
          <a:prstGeom prst="roundRect">
            <a:avLst>
              <a:gd name="adj" fmla="val 17295"/>
            </a:avLst>
          </a:prstGeom>
          <a:noFill/>
          <a:ln w="7620">
            <a:solidFill>
              <a:srgbClr val="F203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75333" y="5362813"/>
            <a:ext cx="216729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2024 ANALYSIS REPORT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52" y="634841"/>
            <a:ext cx="5368409" cy="671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Project Objective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8552" y="2462808"/>
            <a:ext cx="6917888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This analysis dives deep into an e-commerce dataset to uncover what's driving revenue, where opportunities lie, and how operational efficiency can be improved.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8552" y="3727490"/>
            <a:ext cx="6917888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goal is to translate raw transactional data into </a:t>
            </a:r>
            <a:r>
              <a:rPr lang="en-US" sz="17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clear, actionable business insights</a:t>
            </a: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across four key dimensions: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559" y="1876544"/>
            <a:ext cx="5558909" cy="315003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84039" y="5522774"/>
            <a:ext cx="342186" cy="3421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9954" y="5515689"/>
            <a:ext cx="2772251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Revenue Performance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539954" y="5981462"/>
            <a:ext cx="563927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Track total and category-level earnings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536537" y="5522774"/>
            <a:ext cx="342186" cy="3421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92453" y="5515689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Order Behavior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8192453" y="5981462"/>
            <a:ext cx="5639395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Understand volume, status, and fulfillment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84039" y="6779716"/>
            <a:ext cx="342186" cy="34218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39954" y="6772632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Patterns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1539954" y="7238405"/>
            <a:ext cx="563927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Identify demand signals and seasonal shifts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536537" y="6779716"/>
            <a:ext cx="342186" cy="34218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92453" y="6772632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Geographic Reach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8192453" y="7238405"/>
            <a:ext cx="5639395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Map state-level revenue concentration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358" y="674370"/>
            <a:ext cx="5192435" cy="64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Dataset Overview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72358" y="1730216"/>
            <a:ext cx="13085683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dataset captures a comprehensive view of e-commerce transactions, providing the foundation for all downstream analysis.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72358" y="2298144"/>
            <a:ext cx="441246" cy="4412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358" y="2993588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Order ID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2358" y="3440192"/>
            <a:ext cx="419242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Unique identifier for each transaction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18986" y="2298144"/>
            <a:ext cx="441246" cy="4412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8986" y="2993588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Product Category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218986" y="3440192"/>
            <a:ext cx="419242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Classification of items sold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665613" y="2298144"/>
            <a:ext cx="441246" cy="4412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65613" y="2993588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Quantity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665613" y="3440192"/>
            <a:ext cx="419242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Units ordered per transaction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72358" y="4186118"/>
            <a:ext cx="441246" cy="4412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2358" y="4881563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Total Revenue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72358" y="5328166"/>
            <a:ext cx="419242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Revenue generated per order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218986" y="4186118"/>
            <a:ext cx="441246" cy="44124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8986" y="4881563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Order Status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5218986" y="5328166"/>
            <a:ext cx="419242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Delivered, cancelled, or returned</a:t>
            </a:r>
            <a:endParaRPr lang="en-US" sz="17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665613" y="4186118"/>
            <a:ext cx="441246" cy="44124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65613" y="4881563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Shipping State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9665613" y="5328166"/>
            <a:ext cx="419242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Geographic origin of each order</a:t>
            </a:r>
            <a:endParaRPr lang="en-US" sz="17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72358" y="6074093"/>
            <a:ext cx="441246" cy="44124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72358" y="6769537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Order Date</a:t>
            </a:r>
            <a:endParaRPr lang="en-US" sz="2000" dirty="0"/>
          </a:p>
        </p:txBody>
      </p:sp>
      <p:sp>
        <p:nvSpPr>
          <p:cNvPr id="24" name="Text 15"/>
          <p:cNvSpPr/>
          <p:nvPr/>
        </p:nvSpPr>
        <p:spPr>
          <a:xfrm>
            <a:off x="772358" y="7216140"/>
            <a:ext cx="419242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Timestamp enabling trend analysis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13642"/>
            <a:ext cx="731722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Key Performance Indicators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69640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Five core KPIs were defined to measure and monitor overall business health at a glance.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348633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4659" y="35955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4659" y="4091107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Gross income generated across all orders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3348633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2709" y="35955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Total Orders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2709" y="4091107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Volume of transactions processed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33823" y="3348633"/>
            <a:ext cx="4158853" cy="1755458"/>
          </a:xfrm>
          <a:prstGeom prst="roundRect">
            <a:avLst>
              <a:gd name="adj" fmla="val 572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80759" y="35955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Qty Sold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80759" y="4091107"/>
            <a:ext cx="366498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Total units moved across categories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37724" y="5343406"/>
            <a:ext cx="6357818" cy="1372433"/>
          </a:xfrm>
          <a:prstGeom prst="roundRect">
            <a:avLst>
              <a:gd name="adj" fmla="val 732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4659" y="55903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Avg. Order Value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84659" y="6085880"/>
            <a:ext cx="58639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Revenue per order — a key efficiency signal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5343406"/>
            <a:ext cx="6357818" cy="1372433"/>
          </a:xfrm>
          <a:prstGeom prst="roundRect">
            <a:avLst>
              <a:gd name="adj" fmla="val 732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1793" y="55903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Cancellation Rate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1793" y="6085880"/>
            <a:ext cx="58639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Share of orders cancelled before fulfillment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4099" y="513755"/>
            <a:ext cx="6356390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Category Performance Analysis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64099" y="1403390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Revenue by Category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099" y="1830586"/>
            <a:ext cx="5727502" cy="57275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099" y="1830586"/>
            <a:ext cx="5727502" cy="57275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46181" y="2767727"/>
            <a:ext cx="2246590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What the Data Tells Us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546181" y="3177421"/>
            <a:ext cx="5727502" cy="77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Category-level analysis reveals a pronounced </a:t>
            </a:r>
            <a:r>
              <a:rPr lang="en-US" sz="140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revenue concentration effect</a:t>
            </a: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a small number of categories are responsible for driving the majority of total sales.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546181" y="4079796"/>
            <a:ext cx="5727502" cy="77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</a:t>
            </a:r>
            <a:r>
              <a:rPr lang="en-US" sz="14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"Set" category</a:t>
            </a: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consistently outperforms all others, signaling strong customer preference and high purchase frequency in this segment.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546181" y="5013722"/>
            <a:ext cx="5727502" cy="1179909"/>
          </a:xfrm>
          <a:prstGeom prst="roundRect">
            <a:avLst>
              <a:gd name="adj" fmla="val 6524"/>
            </a:avLst>
          </a:prstGeom>
          <a:solidFill>
            <a:srgbClr val="022349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418" y="5249942"/>
            <a:ext cx="229076" cy="1832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41732" y="5199698"/>
            <a:ext cx="4948714" cy="77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Top 2–3 categories likely account for the majority of total revenue. This imbalance presents both a risk and an optimization opportunity.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11104"/>
            <a:ext cx="645223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Monthly Revenue Trends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649498"/>
            <a:ext cx="7539395" cy="39933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1344" y="5503540"/>
            <a:ext cx="1754342" cy="21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Early Year Ramp-Up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49008" y="5788983"/>
            <a:ext cx="1996677" cy="18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Jan–Feb building momentum.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262266" y="3316697"/>
            <a:ext cx="1754342" cy="21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Peak Season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19931" y="3602140"/>
            <a:ext cx="1996677" cy="18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Mar–Apr highest revenue.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93814" y="3316697"/>
            <a:ext cx="1754342" cy="21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Mid-Year Dip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93814" y="3602140"/>
            <a:ext cx="1996677" cy="18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May–Jun declining demand.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98036" y="5503670"/>
            <a:ext cx="1754342" cy="21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Late Year Recovery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98036" y="5789113"/>
            <a:ext cx="1996678" cy="37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Jul onwards stabilizing revenue.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968621" y="251340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Reading the Trend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968621" y="3104674"/>
            <a:ext cx="483155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Monthly revenue is </a:t>
            </a:r>
            <a:r>
              <a:rPr lang="en-US" sz="18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not uniform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clear peaks and troughs emerge throughout the year, signaling seasonal demand cycles.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968621" y="4469130"/>
            <a:ext cx="4831556" cy="246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Certain months consistently outperform others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Demand dips suggest promotional opportunities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Peaks should inform inventory and staffing plans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9874" y="526852"/>
            <a:ext cx="4510564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Order Status Breakdown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74" y="1332309"/>
            <a:ext cx="4692848" cy="469284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874" y="1332309"/>
            <a:ext cx="4692848" cy="46928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60870" y="3272433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Fulfillment Health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6960870" y="3638074"/>
            <a:ext cx="5827038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vast majority of orders reach customers successfully, reflecting </a:t>
            </a:r>
            <a:r>
              <a:rPr lang="en-US" sz="130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efficient operational execution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across logistics and fulfillment pipelines.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1849874" y="6291382"/>
            <a:ext cx="3564612" cy="1411367"/>
          </a:xfrm>
          <a:prstGeom prst="roundRect">
            <a:avLst>
              <a:gd name="adj" fmla="val 7775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971B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27014" y="6291382"/>
            <a:ext cx="91440" cy="1411367"/>
          </a:xfrm>
          <a:prstGeom prst="roundRect">
            <a:avLst>
              <a:gd name="adj" fmla="val 77310"/>
            </a:avLst>
          </a:prstGeom>
          <a:solidFill>
            <a:srgbClr val="F20374"/>
          </a:solidFill>
          <a:ln/>
        </p:spPr>
      </p:sp>
      <p:sp>
        <p:nvSpPr>
          <p:cNvPr id="9" name="Text 5"/>
          <p:cNvSpPr/>
          <p:nvPr/>
        </p:nvSpPr>
        <p:spPr>
          <a:xfrm>
            <a:off x="2109549" y="6482477"/>
            <a:ext cx="2206347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✅</a:t>
            </a: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Strong Delivery Rate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2109549" y="6823710"/>
            <a:ext cx="3113842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Most orders fulfilled without issue — a positive signal for customer satisfaction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532715" y="6291382"/>
            <a:ext cx="3564731" cy="1411367"/>
          </a:xfrm>
          <a:prstGeom prst="roundRect">
            <a:avLst>
              <a:gd name="adj" fmla="val 7775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971B5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509855" y="6291382"/>
            <a:ext cx="91440" cy="1411367"/>
          </a:xfrm>
          <a:prstGeom prst="roundRect">
            <a:avLst>
              <a:gd name="adj" fmla="val 77310"/>
            </a:avLst>
          </a:prstGeom>
          <a:solidFill>
            <a:srgbClr val="F20374"/>
          </a:solidFill>
          <a:ln/>
        </p:spPr>
      </p:sp>
      <p:sp>
        <p:nvSpPr>
          <p:cNvPr id="13" name="Text 9"/>
          <p:cNvSpPr/>
          <p:nvPr/>
        </p:nvSpPr>
        <p:spPr>
          <a:xfrm>
            <a:off x="5792391" y="6482477"/>
            <a:ext cx="2140982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⚠️</a:t>
            </a: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Cancellation Impact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792391" y="6823710"/>
            <a:ext cx="3113961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Though small in percentage, cancellations represent lost revenue worth addressing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215676" y="6291382"/>
            <a:ext cx="3564612" cy="1411367"/>
          </a:xfrm>
          <a:prstGeom prst="roundRect">
            <a:avLst>
              <a:gd name="adj" fmla="val 7775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971B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92816" y="6291382"/>
            <a:ext cx="91440" cy="1411367"/>
          </a:xfrm>
          <a:prstGeom prst="roundRect">
            <a:avLst>
              <a:gd name="adj" fmla="val 77310"/>
            </a:avLst>
          </a:prstGeom>
          <a:solidFill>
            <a:srgbClr val="F20374"/>
          </a:solidFill>
          <a:ln/>
        </p:spPr>
      </p:sp>
      <p:sp>
        <p:nvSpPr>
          <p:cNvPr id="17" name="Text 13"/>
          <p:cNvSpPr/>
          <p:nvPr/>
        </p:nvSpPr>
        <p:spPr>
          <a:xfrm>
            <a:off x="9475351" y="6482477"/>
            <a:ext cx="2180392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🔄</a:t>
            </a: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Return Management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9475351" y="6823710"/>
            <a:ext cx="3113842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Returns are minimal but should be monitored to protect margins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0177" y="744141"/>
            <a:ext cx="7033617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State-Wise Revenue Distribution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180177" y="1573411"/>
            <a:ext cx="775644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Geographic analysis reveals that revenue is </a:t>
            </a:r>
            <a:r>
              <a:rPr lang="en-US" sz="15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heavily concentrated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in a handful of states — a pattern with major strategic implications.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80177" y="2337911"/>
            <a:ext cx="7756446" cy="1091327"/>
          </a:xfrm>
          <a:prstGeom prst="roundRect">
            <a:avLst>
              <a:gd name="adj" fmla="val 762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85917" y="2543651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Top States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85917" y="2933581"/>
            <a:ext cx="734496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few high-performing states contribute a disproportionate share of total revenue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180177" y="3593306"/>
            <a:ext cx="7756446" cy="1381244"/>
          </a:xfrm>
          <a:prstGeom prst="roundRect">
            <a:avLst>
              <a:gd name="adj" fmla="val 602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85917" y="3799046"/>
            <a:ext cx="2332315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Underserved Regions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85917" y="4188976"/>
            <a:ext cx="734496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Many states show minimal activity — representing significant untapped market potential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180177" y="5138618"/>
            <a:ext cx="7756446" cy="1091327"/>
          </a:xfrm>
          <a:prstGeom prst="roundRect">
            <a:avLst>
              <a:gd name="adj" fmla="val 762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5917" y="5344358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Concentration Risk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85917" y="5734288"/>
            <a:ext cx="734496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Over-reliance on a few states creates vulnerability to regional disruptions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180177" y="6394013"/>
            <a:ext cx="7756446" cy="1091327"/>
          </a:xfrm>
          <a:prstGeom prst="roundRect">
            <a:avLst>
              <a:gd name="adj" fmla="val 762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85917" y="6599753"/>
            <a:ext cx="2514243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Expansion Opportunity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85917" y="6989683"/>
            <a:ext cx="734496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Targeted marketing in low-revenue regions could drive meaningful growth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324" y="588407"/>
            <a:ext cx="7934563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Key Insights &amp; Hypothesis Validation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78324" y="1581745"/>
            <a:ext cx="2593181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What the Data Revealed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8324" y="2057876"/>
            <a:ext cx="446008" cy="446008"/>
          </a:xfrm>
          <a:prstGeom prst="roundRect">
            <a:avLst>
              <a:gd name="adj" fmla="val 1866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1430" y="2105978"/>
            <a:ext cx="279797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88400" y="2125980"/>
            <a:ext cx="2583537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Category Concentration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8400" y="2581513"/>
            <a:ext cx="558498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small number of categories — led by "Set" — drive the majority of revenue, validating our core hypothesis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78324" y="3489603"/>
            <a:ext cx="446008" cy="446008"/>
          </a:xfrm>
          <a:prstGeom prst="roundRect">
            <a:avLst>
              <a:gd name="adj" fmla="val 1866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1430" y="3537704"/>
            <a:ext cx="279797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88400" y="3557707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Seasonal Variation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88400" y="4013240"/>
            <a:ext cx="558498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Monthly trends confirm predictable demand cycles that can be planned around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78324" y="4921329"/>
            <a:ext cx="446008" cy="446008"/>
          </a:xfrm>
          <a:prstGeom prst="roundRect">
            <a:avLst>
              <a:gd name="adj" fmla="val 1866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1430" y="4969431"/>
            <a:ext cx="279797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88400" y="4989433"/>
            <a:ext cx="2431971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Operational Efficiency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88400" y="5444966"/>
            <a:ext cx="558498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High delivery success rates signal a strong fulfillment backbone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78324" y="6353056"/>
            <a:ext cx="446008" cy="446008"/>
          </a:xfrm>
          <a:prstGeom prst="roundRect">
            <a:avLst>
              <a:gd name="adj" fmla="val 1866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1430" y="6401157"/>
            <a:ext cx="279797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88400" y="6421160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Geographic Gaps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88400" y="6876693"/>
            <a:ext cx="558498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Revenue concentration in a few states points to clear expansion opportunities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21880" y="1417677"/>
            <a:ext cx="6480572" cy="6223516"/>
          </a:xfrm>
          <a:prstGeom prst="roundRect">
            <a:avLst>
              <a:gd name="adj" fmla="val 2293"/>
            </a:avLst>
          </a:prstGeom>
          <a:solidFill>
            <a:srgbClr val="F20374">
              <a:alpha val="9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0" y="1581745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Hypothesis Result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0" y="2037278"/>
            <a:ext cx="608433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Hypothesis:</a:t>
            </a:r>
            <a:r>
              <a:rPr lang="en-US" sz="155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 small number of categories contribute most of the total revenue.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20000" y="2764750"/>
            <a:ext cx="608433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Finding:</a:t>
            </a:r>
            <a:r>
              <a:rPr lang="en-US" sz="155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The "Set" category generates significantly higher revenue than all others — revenue distribution is highly uneven.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620000" y="3492222"/>
            <a:ext cx="608433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Verdict:</a:t>
            </a:r>
            <a:r>
              <a:rPr lang="en-US" sz="155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Hypothesis fully supported by the data.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653058"/>
            <a:ext cx="7500699" cy="626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Recommendations &amp; Next Steps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46165" y="1659731"/>
            <a:ext cx="1313807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Based on the analysis, four strategic actions can drive meaningful improvement in revenue, efficiency, and market reach.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065848" y="2728555"/>
            <a:ext cx="6154341" cy="213122"/>
          </a:xfrm>
          <a:prstGeom prst="roundRect">
            <a:avLst>
              <a:gd name="adj" fmla="val 4201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6165" y="2515374"/>
            <a:ext cx="639485" cy="639485"/>
          </a:xfrm>
          <a:prstGeom prst="roundRect">
            <a:avLst>
              <a:gd name="adj" fmla="val 7149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06066" y="2675275"/>
            <a:ext cx="319683" cy="3196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9287" y="3344704"/>
            <a:ext cx="3679507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Double Down on Top Categories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59287" y="3772019"/>
            <a:ext cx="6047899" cy="96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Prioritize inventory, marketing, and promotions for the "Set" category and other high-revenue segments to maximize returns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729776" y="2408873"/>
            <a:ext cx="6154341" cy="213122"/>
          </a:xfrm>
          <a:prstGeom prst="roundRect">
            <a:avLst>
              <a:gd name="adj" fmla="val 4201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10093" y="2195691"/>
            <a:ext cx="639485" cy="639485"/>
          </a:xfrm>
          <a:prstGeom prst="roundRect">
            <a:avLst>
              <a:gd name="adj" fmla="val 7149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569994" y="2355592"/>
            <a:ext cx="319683" cy="3196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3215" y="3025021"/>
            <a:ext cx="397192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Expand into Underserved Regions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7623215" y="3452336"/>
            <a:ext cx="6047899" cy="96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Deploy targeted campaigns in low-performing states to diversify revenue sources and reduce geographic concentration risk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1065848" y="5674995"/>
            <a:ext cx="6154341" cy="213122"/>
          </a:xfrm>
          <a:prstGeom prst="roundRect">
            <a:avLst>
              <a:gd name="adj" fmla="val 4201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6165" y="5461814"/>
            <a:ext cx="639485" cy="639485"/>
          </a:xfrm>
          <a:prstGeom prst="roundRect">
            <a:avLst>
              <a:gd name="adj" fmla="val 7149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06066" y="5621715"/>
            <a:ext cx="319683" cy="3196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9287" y="6291143"/>
            <a:ext cx="325314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Reduce Order Cancellations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59287" y="6718459"/>
            <a:ext cx="6047899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Improve order management workflows, payment processes, and customer communication to lower cancellation rates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729776" y="5355312"/>
            <a:ext cx="6154341" cy="213122"/>
          </a:xfrm>
          <a:prstGeom prst="roundRect">
            <a:avLst>
              <a:gd name="adj" fmla="val 4201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10093" y="5142131"/>
            <a:ext cx="639485" cy="639485"/>
          </a:xfrm>
          <a:prstGeom prst="roundRect">
            <a:avLst>
              <a:gd name="adj" fmla="val 7149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569994" y="5302032"/>
            <a:ext cx="319683" cy="3196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3215" y="5971461"/>
            <a:ext cx="330612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Plan Around Seasonal Peaks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7623215" y="6398776"/>
            <a:ext cx="6047899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monthly trend data to time promotions, stock up inventory, and align staffing ahead of demand surges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761</Words>
  <Application>Microsoft Office PowerPoint</Application>
  <PresentationFormat>Custom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Overpass Bold</vt:lpstr>
      <vt:lpstr>Calibri</vt:lpstr>
      <vt:lpstr>Overpass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ekesh</dc:creator>
  <cp:lastModifiedBy>ekesh84@outlook.com</cp:lastModifiedBy>
  <cp:revision>2</cp:revision>
  <dcterms:created xsi:type="dcterms:W3CDTF">2026-04-29T14:37:26Z</dcterms:created>
  <dcterms:modified xsi:type="dcterms:W3CDTF">2026-04-29T14:42:29Z</dcterms:modified>
</cp:coreProperties>
</file>